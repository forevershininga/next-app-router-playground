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1" Type="http://schemas.openxmlformats.org/officeDocument/2006/relationships/viewProps" Target="viewProps.xml" /><Relationship Id="rId2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3" Type="http://schemas.openxmlformats.org/officeDocument/2006/relationships/tableStyles" Target="tableStyles.xml" /><Relationship Id="rId2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slide" Target="slide18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slide" Target="slide18.xml" /><Relationship Id="rId3" Type="http://schemas.openxmlformats.org/officeDocument/2006/relationships/slide" Target="slide18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announcements.asx.com.au/asxpdf/20230925/pdf/05v87t664yx9mg.pdf" TargetMode="External" /><Relationship Id="rId3" Type="http://schemas.openxmlformats.org/officeDocument/2006/relationships/hyperlink" Target="https://forevershining.com.au/generator/" TargetMode="External" /><Relationship Id="rId4" Type="http://schemas.openxmlformats.org/officeDocument/2006/relationships/hyperlink" Target="https://headstonesdesigner.com/generator/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Forever Shining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 20-year Australian memorial business, modernising its proven digital sales engine</a:t>
            </a:r>
            <a:br/>
            <a:br/>
            <a:r>
              <a:rPr/>
              <a:t>Confidential — September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Forever Shining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20 years serving Australia. Seven years of live digital configuration. Now building the next-generation platform.</a:t>
            </a:r>
          </a:p>
          <a:p>
            <a:pPr lvl="0" indent="0" marL="0">
              <a:buNone/>
            </a:pPr>
            <a:r>
              <a:rPr b="1"/>
              <a:t>Growth and platform-modernisation opportunity</a:t>
            </a:r>
            <a:br/>
            <a:r>
              <a:rPr/>
              <a:t>Australia-first · global category potential</a:t>
            </a:r>
          </a:p>
          <a:p>
            <a:pPr lvl="0" indent="0" marL="1270000">
              <a:buNone/>
            </a:pPr>
            <a:r>
              <a:rPr sz="2000"/>
              <a:t>This deck separates the established, revenue-generating Forever Shining business from the next-generation platform currently in development. The new build and its test-site analytics are not presented as live commercial traction.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 high-consideration purchase still runs on fragmented, offline workflows.</a:t>
            </a:r>
          </a:p>
          <a:p>
            <a:pPr lvl="0"/>
            <a:r>
              <a:rPr/>
              <a:t>Families must make emotionally difficult, highly personal choices with limited visual certainty.</a:t>
            </a:r>
          </a:p>
          <a:p>
            <a:pPr lvl="0"/>
            <a:r>
              <a:rPr/>
              <a:t>Makers and funeral providers lose time to back-and-forth on dimensions, inscriptions, imagery, materials and cemetery requirements.</a:t>
            </a:r>
          </a:p>
          <a:p>
            <a:pPr lvl="0"/>
            <a:r>
              <a:rPr/>
              <a:t>Quotes are often manual and design proofs hard to share, revise and retain.</a:t>
            </a:r>
          </a:p>
          <a:p>
            <a:pPr lvl="0"/>
            <a:r>
              <a:rPr/>
              <a:t>Local operators have deep craft knowledge, but rarely have modern product configuration, digital acquisition or conversion tooling.</a:t>
            </a:r>
          </a:p>
          <a:p>
            <a:pPr lvl="0" indent="0" marL="0">
              <a:buNone/>
            </a:pPr>
            <a:r>
              <a:rPr b="1"/>
              <a:t>Result:</a:t>
            </a:r>
            <a:r>
              <a:rPr/>
              <a:t> lower confidence, slower approval cycles and expensive operational friction.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product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 proven online sales workflow today, with a next-generation 3D studio in development.</a:t>
            </a:r>
          </a:p>
          <a:p>
            <a:pPr lvl="0" indent="-342900" marL="342900">
              <a:buAutoNum type="arabicPeriod"/>
            </a:pPr>
            <a:r>
              <a:rPr b="1"/>
              <a:t>Established company:</a:t>
            </a:r>
            <a:r>
              <a:rPr/>
              <a:t> Forever Shining has operated in Australia for </a:t>
            </a:r>
            <a:r>
              <a:rPr b="1"/>
              <a:t>20 years</a:t>
            </a:r>
            <a:r>
              <a:rPr/>
              <a:t>; its existing online configurator has supported real customer orders for approximately seven years.</a:t>
            </a:r>
          </a:p>
          <a:p>
            <a:pPr lvl="0" indent="-342900" marL="342900">
              <a:buAutoNum type="arabicPeriod"/>
            </a:pPr>
            <a:r>
              <a:rPr b="1"/>
              <a:t>Next platform:</a:t>
            </a:r>
            <a:r>
              <a:rPr/>
              <a:t> a modern, real-time 3D studio will let families configure products, materials, dimensions, inscriptions, imagery and additions with greater visual certainty.</a:t>
            </a:r>
          </a:p>
          <a:p>
            <a:pPr lvl="0" indent="-342900" marL="342900">
              <a:buAutoNum type="arabicPeriod"/>
            </a:pPr>
            <a:r>
              <a:rPr b="1"/>
              <a:t>Commercial workflow:</a:t>
            </a:r>
            <a:r>
              <a:rPr/>
              <a:t> the platform roadmap connects design, quote, proof approval and order handoff while preserving the operating knowledge built in the live business.</a:t>
            </a:r>
          </a:p>
          <a:p>
            <a:pPr lvl="0" indent="0" marL="0">
              <a:buNone/>
            </a:pPr>
            <a:r>
              <a:rPr/>
              <a:t>The investment case is not a speculative configurator: it is the modernisation and scaling of an operating memorial-commerce workflow with demonstrated demand.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Consumer expectations have moved online; memorial commerce has not caught up.</a:t>
            </a:r>
          </a:p>
          <a:p>
            <a:pPr lvl="0"/>
            <a:r>
              <a:rPr/>
              <a:t>Families expect transparent pricing, self-service research and a visual proof before committing.</a:t>
            </a:r>
          </a:p>
          <a:p>
            <a:pPr lvl="0"/>
            <a:r>
              <a:rPr/>
              <a:t>Search behaviour already spans material, motif, relationship and product-intent queries — ideal for inspiration-led acquisition.</a:t>
            </a:r>
          </a:p>
          <a:p>
            <a:pPr lvl="0"/>
            <a:r>
              <a:rPr/>
              <a:t>The Australian death-care market is large and fragmented. An industry report estimates FY24 Australian death-care revenue at </a:t>
            </a:r>
            <a:r>
              <a:rPr b="1"/>
              <a:t>A$2.8bn</a:t>
            </a:r>
            <a:r>
              <a:rPr/>
              <a:t>; fragmentation creates a practical distribution wedge for white-label software and operator partnerships.</a:t>
            </a:r>
            <a:r>
              <a:rPr baseline="30000">
                <a:hlinkClick r:id="rId2" action="ppaction://hlinksldjump"/>
              </a:rPr>
              <a:t>1</a:t>
            </a:r>
          </a:p>
          <a:p>
            <a:pPr lvl="0"/>
            <a:r>
              <a:rPr/>
              <a:t>The same configuration problem repeats across geographies, languages and local cemetery rules.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wedge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Build from an operating D2C base. Extend into a scalable platform.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Established D2C business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Next — B2B2C platform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SEO-led discovery and inspirational design gallery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White-label studio for stonemasons, funeral homes and memorial parks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Existing configurator and order operations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Dealer catalogue, margin rules, quoting, lead routing and proof approval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In-house fulfilment for easy-to-ship plaques and small headstones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Local production and installation network for complex monuments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Business model:</a:t>
            </a:r>
            <a:r>
              <a:rPr/>
              <a:t> a hybrid fulfilment engine — own product margin where shipping and production are predictable; partner production/installation margin or commission where the product is large, complex or location-dependent; software fees or transaction fees only where a partner uses the platform independently.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Fulfilment follows product complexity, not a one-size-fits-all supply chain.</a:t>
            </a:r>
          </a:p>
          <a:p>
            <a:pPr lvl="0"/>
            <a:r>
              <a:rPr b="1"/>
              <a:t>Easy-shipping plaques:</a:t>
            </a:r>
            <a:r>
              <a:rPr/>
              <a:t> produced and fulfilled in-house for speed, quality control and margin.</a:t>
            </a:r>
          </a:p>
          <a:p>
            <a:pPr lvl="0"/>
            <a:r>
              <a:rPr b="1"/>
              <a:t>Small headstones:</a:t>
            </a:r>
            <a:r>
              <a:rPr/>
              <a:t> fulfilled in-house where logistics and installation are manageable.</a:t>
            </a:r>
          </a:p>
          <a:p>
            <a:pPr lvl="0"/>
            <a:r>
              <a:rPr b="1"/>
              <a:t>Full monuments:</a:t>
            </a:r>
            <a:r>
              <a:rPr/>
              <a:t> sourced through factories and local partners where that lowers transport cost and gives families access to qualified installers.</a:t>
            </a:r>
          </a:p>
          <a:p>
            <a:pPr lvl="0"/>
            <a:r>
              <a:rPr b="1"/>
              <a:t>Platform control remains central:</a:t>
            </a:r>
            <a:r>
              <a:rPr/>
              <a:t> Forever Shining owns the digital design, pricing logic, proofing, customer journey and partner-routing rules.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advantage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Operating knowledge plus software that understands the physical product.</a:t>
            </a:r>
          </a:p>
          <a:p>
            <a:pPr lvl="0"/>
            <a:r>
              <a:rPr b="1"/>
              <a:t>20 years</a:t>
            </a:r>
            <a:r>
              <a:rPr/>
              <a:t> of Australian market, customer, product, pricing and fulfilment experience in a difficult, high-consideration category — including approximately seven years of live online configuration.</a:t>
            </a:r>
          </a:p>
          <a:p>
            <a:pPr lvl="0"/>
            <a:r>
              <a:rPr/>
              <a:t>Established product, pricing and production knowledge informs the catalogue and workflow of the new platform.</a:t>
            </a:r>
          </a:p>
          <a:p>
            <a:pPr lvl="0"/>
            <a:r>
              <a:rPr/>
              <a:t>The next-generation build adds real-time 3D rendering, a reusable catalogue/pricing engine, saved/shareable designs and a more scalable quote-to-order flow.</a:t>
            </a:r>
          </a:p>
          <a:p>
            <a:pPr lvl="0"/>
            <a:r>
              <a:rPr/>
              <a:t>The platform can be adapted to a partner catalogue rather than rebuilt for each supplier.</a:t>
            </a:r>
          </a:p>
          <a:p>
            <a:pPr lvl="0" indent="0" marL="0">
              <a:buNone/>
            </a:pPr>
            <a:r>
              <a:rPr b="1"/>
              <a:t>Defensibility is earned through catalogue depth, manufacturing integrations, conversion data and partner distribution.</a:t>
            </a:r>
            <a:r>
              <a:rPr/>
              <a:t> It should not be represented as a completed moat today.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Proof of execution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The core business is live and selling; the new build is a scale-up project.</a:t>
            </a:r>
          </a:p>
          <a:p>
            <a:pPr lvl="0"/>
            <a:r>
              <a:rPr/>
              <a:t>Forever Shining has operated in Australia for </a:t>
            </a:r>
            <a:r>
              <a:rPr b="1"/>
              <a:t>20 years</a:t>
            </a:r>
            <a:r>
              <a:rPr/>
              <a:t>. Its existing configurator has been live for approximately </a:t>
            </a:r>
            <a:r>
              <a:rPr b="1"/>
              <a:t>seven years</a:t>
            </a:r>
            <a:r>
              <a:rPr/>
              <a:t> and generates revenue.</a:t>
            </a:r>
          </a:p>
          <a:p>
            <a:pPr lvl="0"/>
            <a:r>
              <a:rPr/>
              <a:t>Two internal current-order views dated 16 September 2026 show 28 visible orders: </a:t>
            </a:r>
            <a:r>
              <a:rPr b="1"/>
              <a:t>9,747–9,761</a:t>
            </a:r>
            <a:r>
              <a:rPr/>
              <a:t> and </a:t>
            </a:r>
            <a:r>
              <a:rPr b="1"/>
              <a:t>9,800–9,814</a:t>
            </a:r>
            <a:r>
              <a:rPr/>
              <a:t>. The displayed gross order value across those sampled rows is </a:t>
            </a:r>
            <a:r>
              <a:rPr b="1"/>
              <a:t>A$133,362.29</a:t>
            </a:r>
            <a:r>
              <a:rPr/>
              <a:t>.</a:t>
            </a:r>
            <a:r>
              <a:rPr baseline="30000">
                <a:hlinkClick r:id="rId2" action="ppaction://hlinksldjump"/>
              </a:rPr>
              <a:t>2</a:t>
            </a:r>
          </a:p>
          <a:p>
            <a:pPr lvl="0"/>
            <a:r>
              <a:rPr/>
              <a:t>This is operating-business evidence, not a claim that the samples represent all sales in the period or that all visible orders are paid, fulfilled, unique customers or recognised revenue. Payment and fulfilment statuses vary by row.</a:t>
            </a:r>
          </a:p>
          <a:p>
            <a:pPr lvl="0"/>
            <a:r>
              <a:rPr/>
              <a:t>The next-generation 3D application is a not-yet-deployed replacement/expansion. Its test-site traffic and analytics must not be used as commercial traction.</a:t>
            </a:r>
          </a:p>
          <a:p>
            <a:pPr lvl="0"/>
            <a:r>
              <a:rPr/>
              <a:t>Historical generator records can support a product-usage narrative only after deduplication and privacy review; they are not sales or customer counts.</a:t>
            </a:r>
            <a:r>
              <a:rPr baseline="30000">
                <a:hlinkClick r:id="rId3" action="ppaction://hlinksldjump"/>
              </a:rPr>
              <a:t>3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What we will prove next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 focused 12-month scale-up and validation plan.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Evidence required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Baseline the live business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Monthly revenue, paid orders, AOV, gross margin, cancellation rate and fulfilment time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Design-to-enquiry conversion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Compare legacy and next-platform qualified enquiry rate, time to quote and quote acceptance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D2C unit economics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CAC by channel, gross margin, payback and cancellation rate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Partner product-market fit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3–5 paid white-label pilots with independent operators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Platform repeatability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 new partner catalogue onboarded in days, not custom development months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Manufacturing readiness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Approved proof → production handoff with zero avoidable rework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initial objective is to instrument and grow the existing profitable-order engine, then prove that the new platform improves conversion and supports partner distribution.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Go-to-market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Win trust locally, then scale through distribution.</a:t>
            </a:r>
          </a:p>
          <a:p>
            <a:pPr lvl="0" indent="-342900" marL="342900">
              <a:buAutoNum type="arabicPeriod"/>
            </a:pPr>
            <a:r>
              <a:rPr b="1"/>
              <a:t>Australia D2C:</a:t>
            </a:r>
            <a:r>
              <a:rPr/>
              <a:t> intent SEO, design-gallery content, paid search around high-intent categories, assisted online design and in-house fulfilment for simple products.</a:t>
            </a:r>
          </a:p>
          <a:p>
            <a:pPr lvl="0" indent="-342900" marL="342900">
              <a:buAutoNum type="arabicPeriod"/>
            </a:pPr>
            <a:r>
              <a:rPr b="1"/>
              <a:t>Regional partner network:</a:t>
            </a:r>
            <a:r>
              <a:rPr/>
              <a:t> pair complex monument orders with suitable factories and installers to reduce freight and installation friction.</a:t>
            </a:r>
          </a:p>
          <a:p>
            <a:pPr lvl="0" indent="-342900" marL="342900">
              <a:buAutoNum type="arabicPeriod"/>
            </a:pPr>
            <a:r>
              <a:rPr b="1"/>
              <a:t>Operator pilots:</a:t>
            </a:r>
            <a:r>
              <a:rPr/>
              <a:t> give selected stonemasons/funeral providers a branded studio for their catalogue, leads and proof approvals.</a:t>
            </a:r>
          </a:p>
          <a:p>
            <a:pPr lvl="0" indent="-342900" marL="342900">
              <a:buAutoNum type="arabicPeriod"/>
            </a:pPr>
            <a:r>
              <a:rPr b="1"/>
              <a:t>Channel expansion:</a:t>
            </a:r>
            <a:r>
              <a:rPr/>
              <a:t> industry associations, funeral-home groups, cemetery/memorial-park relationships and manufacturers.</a:t>
            </a:r>
          </a:p>
          <a:p>
            <a:pPr lvl="0" indent="-342900" marL="342900">
              <a:buAutoNum type="arabicPeriod"/>
            </a:pPr>
            <a:r>
              <a:rPr b="1"/>
              <a:t>Internationalisation:</a:t>
            </a:r>
            <a:r>
              <a:rPr/>
              <a:t> local catalogues, measurement conventions, currency/tax and cemetery requirements — only after the unit-economics and partner playbook work in Australia.</a:t>
            </a:r>
          </a:p>
          <a:p>
            <a:pPr lvl="0" indent="0" marL="0">
              <a:buNone/>
            </a:pPr>
            <a:r>
              <a:rPr b="1"/>
              <a:t>Distribution principle:</a:t>
            </a:r>
            <a:r>
              <a:rPr/>
              <a:t> the platform augments local experts and craft; it does not attempt to replace them.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Market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 narrow beachhead can support a much larger software outcome.</a:t>
            </a:r>
          </a:p>
          <a:p>
            <a:pPr lvl="0" indent="0" marL="0">
              <a:buNone/>
            </a:pPr>
            <a:r>
              <a:rPr b="1"/>
              <a:t>Beachhead:</a:t>
            </a:r>
            <a:r>
              <a:rPr/>
              <a:t> Australian custom plaques and headstones, where the team has 20 years of operating experience and already runs a live, revenue-generating configurator and order workflow.</a:t>
            </a:r>
          </a:p>
          <a:p>
            <a:pPr lvl="0" indent="0" marL="0">
              <a:buNone/>
            </a:pPr>
            <a:r>
              <a:rPr b="1"/>
              <a:t>Expansion:</a:t>
            </a:r>
            <a:r>
              <a:rPr/>
              <a:t> broader memorial products → independent operators → multi-site funeral and memorial-park networks → English-speaking markets.</a:t>
            </a:r>
          </a:p>
          <a:p>
            <a:pPr lvl="0" indent="0" marL="0">
              <a:buNone/>
            </a:pPr>
            <a:r>
              <a:rPr b="1"/>
              <a:t>Sizing discipline:</a:t>
            </a:r>
            <a:r>
              <a:rPr/>
              <a:t> do not present a top-down TAM as revenue. Before investor meetings, build a bottom-up model from: addressable suppliers × catalogue/transaction volume × achievable software or take-rate revenue. Attach named market sources and state the geography and year for every figure.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Built by people close to the customer problem.</a:t>
            </a:r>
          </a:p>
          <a:p>
            <a:pPr lvl="0" indent="0" marL="0">
              <a:buNone/>
            </a:pPr>
            <a:r>
              <a:rPr b="1"/>
              <a:t>[FOUNDER NAME] — [role]</a:t>
            </a:r>
            <a:br/>
            <a:r>
              <a:rPr/>
              <a:t>[One sentence linking direct sector, product, commercial or technical credibility to Forever Shining.]</a:t>
            </a:r>
          </a:p>
          <a:p>
            <a:pPr lvl="0" indent="0" marL="0">
              <a:buNone/>
            </a:pPr>
            <a:r>
              <a:rPr b="1"/>
              <a:t>[FOUNDER / KEY OPERATOR NAME] — [role]</a:t>
            </a:r>
            <a:br/>
            <a:r>
              <a:rPr/>
              <a:t>[One sentence on complementary execution capability.]</a:t>
            </a:r>
          </a:p>
          <a:p>
            <a:pPr lvl="0" indent="0" marL="0">
              <a:buNone/>
            </a:pPr>
            <a:r>
              <a:rPr b="1"/>
              <a:t>Hiring with this round:</a:t>
            </a:r>
            <a:r>
              <a:rPr/>
              <a:t> partner sales / onboarding, product-engineering capacity and performance marketing.</a:t>
            </a:r>
          </a:p>
          <a:p>
            <a:pPr lvl="0" indent="0" marL="1270000">
              <a:buNone/>
            </a:pPr>
            <a:r>
              <a:rPr sz="2000"/>
              <a:t>Do not send this slide with placeholders. Add LinkedIn URLs, the relevant operator track record and equity/commitment status.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raise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Raising growth capital to modernise the proven D2C engine and establish partner distribution.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6700"/>
                <a:gridCol w="2044700"/>
                <a:gridCol w="1536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 of funds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Indicative allocation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Outcome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Product &amp; integrations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White-label, partner catalogue, routing and production-handoff capabilities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Go-to-market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Measured D2C acquisition and partner-pilot pipeline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Team &amp; operations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Core hires, customer support and onboarding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Security, compliance &amp; contingency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Production hardening and operating buffer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Target runway:</a:t>
            </a:r>
            <a:r>
              <a:rPr/>
              <a:t> 18 months, subject to the financial model.</a:t>
            </a:r>
            <a:br/>
            <a:r>
              <a:rPr b="1"/>
              <a:t>Round mechanics:</a:t>
            </a:r>
            <a:r>
              <a:rPr/>
              <a:t> SAFE / convertible note or priced equity — set only after counsel, cap-table and valuation discussion.</a:t>
            </a:r>
          </a:p>
          <a:p>
            <a:pPr lvl="0" indent="0" marL="1270000">
              <a:buNone/>
            </a:pPr>
            <a:r>
              <a:rPr sz="2000"/>
              <a:t>Insert the raise amount only after reconciling current revenue, gross margin, cash, working capital and the platform plan. Investors should receive a monthly operating-history table, not test-site analytics.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invest 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 revenue-generating base, a clear modernisation path and an industry-ready distribution opportunity.</a:t>
            </a:r>
          </a:p>
          <a:p>
            <a:pPr lvl="0"/>
            <a:r>
              <a:rPr/>
              <a:t>A complex configuration, quoting and fulfilment problem has been solved in an Australian business with 20 years of operating experience and approximately seven years of live configuration.</a:t>
            </a:r>
          </a:p>
          <a:p>
            <a:pPr lvl="0"/>
            <a:r>
              <a:rPr/>
              <a:t>Current-order activity demonstrates continuing commercial operations; a reconciled financial history can substantiate the revenue story.</a:t>
            </a:r>
          </a:p>
          <a:p>
            <a:pPr lvl="0"/>
            <a:r>
              <a:rPr/>
              <a:t>The category supports product margin, partner-enabled fulfilment margin and recurring B2B software potential.</a:t>
            </a:r>
          </a:p>
          <a:p>
            <a:pPr lvl="0"/>
            <a:r>
              <a:rPr/>
              <a:t>Strategic pilot partners can accelerate trust, catalogue depth and route-to-market.</a:t>
            </a:r>
          </a:p>
          <a:p>
            <a:pPr lvl="0" indent="0" marL="0">
              <a:buNone/>
            </a:pPr>
            <a:r>
              <a:rPr b="1"/>
              <a:t>Ask:</a:t>
            </a:r>
            <a:r>
              <a:rPr/>
              <a:t> introduce us to a lead investor and 3–5 Australian memorial/funeral operators willing to run paid design-studio pilots.</a:t>
            </a:r>
          </a:p>
          <a:p>
            <a:pPr lvl="0" indent="0" marL="0">
              <a:buNone/>
            </a:pPr>
            <a:r>
              <a:rPr/>
              <a:t>Contact: </a:t>
            </a:r>
            <a:r>
              <a:rPr b="1"/>
              <a:t>[FOUNDER EMAIL]</a:t>
            </a:r>
            <a:r>
              <a:rPr/>
              <a:t> · </a:t>
            </a:r>
            <a:r>
              <a:rPr b="1"/>
              <a:t>[FOUNDER LINKEDIN]</a:t>
            </a:r>
            <a:r>
              <a:rPr/>
              <a:t> · </a:t>
            </a:r>
            <a:r>
              <a:rPr b="1"/>
              <a:t>forevershining.com.au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1800"/>
              <a:t>1. Kroll / InvoCare scheme booklet, 2023, page 61: </a:t>
            </a:r>
            <a:r>
              <a:rPr sz="1800">
                <a:hlinkClick r:id="rId2"/>
              </a:rPr>
              <a:t>https://announcements.asx.com.au/asxpdf/20230925/pdf/05v87t664yx9mg.pdf</a:t>
            </a:r>
            <a:r>
              <a:rPr sz="1800"/>
              <a:t>. Market figure is third-party industry context, not company revenue.</a:t>
            </a:r>
          </a:p>
          <a:p>
            <a:pPr lvl="0" indent="0" marL="0">
              <a:buNone/>
            </a:pPr>
            <a:r>
              <a:rPr sz="1800"/>
              <a:t>2. Internal Forever Shining admin screenshots, </a:t>
            </a:r>
            <a:r>
              <a:rPr sz="1800">
                <a:latin typeface="Courier"/>
              </a:rPr>
              <a:t>screen.png</a:t>
            </a:r>
            <a:r>
              <a:rPr sz="1800"/>
              <a:t>, captured 16 September 2026. One shows rows 9801–9814 and the partially visible row 9800; another shows rows 9747–9761. The total is the sum of the displayed “Price A$” values; it is not an accounting report.</a:t>
            </a:r>
          </a:p>
          <a:p>
            <a:pPr lvl="0" indent="0" marL="0">
              <a:buNone/>
            </a:pPr>
            <a:r>
              <a:rPr sz="1800"/>
              <a:t>3. Public generator indexes inspected 16 September 2026: </a:t>
            </a:r>
            <a:r>
              <a:rPr sz="1800">
                <a:hlinkClick r:id="rId3"/>
              </a:rPr>
              <a:t>https://forevershining.com.au/generator/</a:t>
            </a:r>
            <a:r>
              <a:rPr sz="1800"/>
              <a:t> and </a:t>
            </a:r>
            <a:r>
              <a:rPr sz="1800">
                <a:hlinkClick r:id="rId4"/>
              </a:rPr>
              <a:t>https://headstonesdesigner.com/generator/</a:t>
            </a:r>
            <a:r>
              <a:rPr sz="1800"/>
              <a:t>. Records may include drafts, samples or duplicates; they are </a:t>
            </a:r>
            <a:r>
              <a:rPr sz="1800" b="1"/>
              <a:t>not orders, unique customers, revenue or current-period activity</a:t>
            </a:r>
            <a:r>
              <a:rPr sz="1800"/>
              <a:t>. Confirm consent, access control and a deduplicated internal count before using externally.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Forever Shining</dc:title>
  <dc:creator>Confidential — September 2026</dc:creator>
  <cp:keywords/>
  <dcterms:created xsi:type="dcterms:W3CDTF">2026-09-16T18:44:31Z</dcterms:created>
  <dcterms:modified xsi:type="dcterms:W3CDTF">2026-09-16T18:44:31Z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spectratio">
    <vt:lpwstr>169</vt:lpwstr>
  </property>
  <property fmtid="{D5CDD505-2E9C-101B-9397-08002B2CF9AE}" pid="3" name="subtitle">
    <vt:lpwstr>A 20-year Australian memorial business, modernising its proven digital sales engine</vt:lpwstr>
  </property>
</Properties>
</file>